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218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05840" y="1716846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LENGUAJE DE PROGRAMACION 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098431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005840" y="3472375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Investigación #1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103370"/>
            <a:ext cx="9144000" cy="1028700"/>
          </a:xfrm>
          <a:prstGeom prst="rect">
            <a:avLst/>
          </a:prstGeom>
          <a:solidFill>
            <a:srgbClr val="12175E"/>
          </a:solidFill>
          <a:ln w="12700">
            <a:solidFill>
              <a:srgbClr val="12175E"/>
            </a:solidFill>
            <a:prstDash val="solid"/>
          </a:ln>
        </p:spPr>
        <p:txBody>
          <a:bodyPr/>
          <a:lstStyle/>
          <a:p>
            <a:endParaRPr lang="es-PA" dirty="0"/>
          </a:p>
        </p:txBody>
      </p:sp>
      <p:sp>
        <p:nvSpPr>
          <p:cNvPr id="8" name="Text 6"/>
          <p:cNvSpPr/>
          <p:nvPr/>
        </p:nvSpPr>
        <p:spPr>
          <a:xfrm>
            <a:off x="836442" y="4210635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Jiménez  4-839-2413     </a:t>
            </a: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Napoleon Ibarra     </a:t>
            </a: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Semestre 2026</a:t>
            </a:r>
            <a:endParaRPr lang="en-US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358019F-9A8B-6D4D-DCE6-D20C835CB7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75260"/>
            <a:ext cx="1478280" cy="1478280"/>
          </a:xfrm>
          <a:prstGeom prst="rect">
            <a:avLst/>
          </a:prstGeom>
          <a:noFill/>
        </p:spPr>
      </p:pic>
      <p:pic>
        <p:nvPicPr>
          <p:cNvPr id="1026" name="Picture 2" descr="Contáctenos | Facultad de Ingeniería de Sistemas Computacionales">
            <a:extLst>
              <a:ext uri="{FF2B5EF4-FFF2-40B4-BE49-F238E27FC236}">
                <a16:creationId xmlns:a16="http://schemas.microsoft.com/office/drawing/2014/main" id="{5A80B1C8-0B06-481E-2D80-2F258FAB3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518" y="136458"/>
            <a:ext cx="1478281" cy="147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Origen de Python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6" name="Text 4"/>
          <p:cNvSpPr/>
          <p:nvPr/>
        </p:nvSpPr>
        <p:spPr>
          <a:xfrm>
            <a:off x="484632" y="1097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Nacimiento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572768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Concebido por Guido van Rossum a finales de los años 80 en los Países Bajos (CWI). Implementación comenzó en 1989.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0" name="Text 8"/>
          <p:cNvSpPr/>
          <p:nvPr/>
        </p:nvSpPr>
        <p:spPr>
          <a:xfrm>
            <a:off x="3410712" y="1097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Primera versión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1572768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0.9.0 se publicó en febrero de 1991, creada como proyecto personal de Guido durante sus vacaciones de Navidad.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274320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6336792" y="1097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 inicial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1572768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sucesor del lenguaje ABC que manejara excepciones e interactuara con el sistema operativo Ameba.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794760"/>
            <a:ext cx="8503920" cy="100584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¿Por qué "Python"?  No proviene del reptil — el nombre fue tomado del grupo cómico británico Monty Python, del que Guido era fanático. Buscaba un nombre corto y misterioso.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Evolución y Versiones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20040" cy="32004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Shape 3"/>
          <p:cNvSpPr/>
          <p:nvPr/>
        </p:nvSpPr>
        <p:spPr>
          <a:xfrm>
            <a:off x="429768" y="1417320"/>
            <a:ext cx="0" cy="502920"/>
          </a:xfrm>
          <a:prstGeom prst="line">
            <a:avLst/>
          </a:prstGeom>
          <a:noFill/>
          <a:ln w="19050">
            <a:solidFill>
              <a:srgbClr val="5C6BC0"/>
            </a:solidFill>
            <a:prstDash val="dash"/>
          </a:ln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822960" y="960120"/>
            <a:ext cx="7955280" cy="77724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1005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00584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Introdujo funciones lambda, map, filter y reduce.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320040" cy="32004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Shape 9"/>
          <p:cNvSpPr/>
          <p:nvPr/>
        </p:nvSpPr>
        <p:spPr>
          <a:xfrm>
            <a:off x="429768" y="2423160"/>
            <a:ext cx="0" cy="502920"/>
          </a:xfrm>
          <a:prstGeom prst="line">
            <a:avLst/>
          </a:prstGeom>
          <a:noFill/>
          <a:ln w="19050">
            <a:solidFill>
              <a:srgbClr val="5C6BC0"/>
            </a:solidFill>
            <a:prstDash val="dash"/>
          </a:ln>
        </p:spPr>
        <p:txBody>
          <a:bodyPr/>
          <a:lstStyle/>
          <a:p>
            <a:endParaRPr lang="es-PA"/>
          </a:p>
        </p:txBody>
      </p:sp>
      <p:sp>
        <p:nvSpPr>
          <p:cNvPr id="12" name="Shape 10"/>
          <p:cNvSpPr/>
          <p:nvPr/>
        </p:nvSpPr>
        <p:spPr>
          <a:xfrm>
            <a:off x="822960" y="1965960"/>
            <a:ext cx="7955280" cy="77724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Text 11"/>
          <p:cNvSpPr/>
          <p:nvPr/>
        </p:nvSpPr>
        <p:spPr>
          <a:xfrm>
            <a:off x="960120" y="2011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2.0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Sumó listas por comprensión y recolección de basura. Base de proyectos heredados.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320040" cy="32004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429768" y="3429000"/>
            <a:ext cx="0" cy="502920"/>
          </a:xfrm>
          <a:prstGeom prst="line">
            <a:avLst/>
          </a:prstGeom>
          <a:noFill/>
          <a:ln w="19050">
            <a:solidFill>
              <a:srgbClr val="5C6BC0"/>
            </a:solidFill>
            <a:prstDash val="dash"/>
          </a:ln>
        </p:spPr>
        <p:txBody>
          <a:bodyPr/>
          <a:lstStyle/>
          <a:p>
            <a:endParaRPr lang="es-PA"/>
          </a:p>
        </p:txBody>
      </p:sp>
      <p:sp>
        <p:nvSpPr>
          <p:cNvPr id="18" name="Shape 16"/>
          <p:cNvSpPr/>
          <p:nvPr/>
        </p:nvSpPr>
        <p:spPr>
          <a:xfrm>
            <a:off x="822960" y="2971800"/>
            <a:ext cx="7955280" cy="77724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9" name="Text 17"/>
          <p:cNvSpPr/>
          <p:nvPr/>
        </p:nvSpPr>
        <p:spPr>
          <a:xfrm>
            <a:off x="960120" y="3017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01752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fallos fundamentales. No compatible con v2. Estándar absoluto hoy (fin de soporte v2: 2020).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320040" cy="32004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3" name="Shape 21"/>
          <p:cNvSpPr/>
          <p:nvPr/>
        </p:nvSpPr>
        <p:spPr>
          <a:xfrm>
            <a:off x="822960" y="3977640"/>
            <a:ext cx="7955280" cy="77724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4" name="Text 22"/>
          <p:cNvSpPr/>
          <p:nvPr/>
        </p:nvSpPr>
        <p:spPr>
          <a:xfrm>
            <a:off x="960120" y="4023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3.13+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4023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402336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 y estable que nunca. Mejoras en el GIL y rendimiento general.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Concepto y Características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914400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183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 un lenguaje de programación de propósito general, de alto nivel y con semántica dinámica. Prioriza la legibilidad del código, permitiendo expresar conceptos complejos en pocas líneas.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1554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15544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legible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136392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al inglés; facilita aprendizaje y lectura.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75688" y="1874520"/>
            <a:ext cx="1554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2" name="Shape 10"/>
          <p:cNvSpPr/>
          <p:nvPr/>
        </p:nvSpPr>
        <p:spPr>
          <a:xfrm>
            <a:off x="2075688" y="1874520"/>
            <a:ext cx="1554480" cy="640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Text 11"/>
          <p:cNvSpPr/>
          <p:nvPr/>
        </p:nvSpPr>
        <p:spPr>
          <a:xfrm>
            <a:off x="2075688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67128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Interpretado y Dinámico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67128" y="3136392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 compilación; tipos asignados en ejecución.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31336" y="1874520"/>
            <a:ext cx="1554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831336" y="1874520"/>
            <a:ext cx="15544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3831336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922776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Multiparadigma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22776" y="3136392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OOP, estructurado o funcional según la necesidad.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86984" y="1874520"/>
            <a:ext cx="1554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2" name="Shape 20"/>
          <p:cNvSpPr/>
          <p:nvPr/>
        </p:nvSpPr>
        <p:spPr>
          <a:xfrm>
            <a:off x="5586984" y="1874520"/>
            <a:ext cx="1554480" cy="640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3" name="Text 21"/>
          <p:cNvSpPr/>
          <p:nvPr/>
        </p:nvSpPr>
        <p:spPr>
          <a:xfrm>
            <a:off x="5586984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🔓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78424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78424" y="3136392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Mantenido por Python Software Foundation. Gratuito.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42632" y="1874520"/>
            <a:ext cx="1554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7" name="Shape 25"/>
          <p:cNvSpPr/>
          <p:nvPr/>
        </p:nvSpPr>
        <p:spPr>
          <a:xfrm>
            <a:off x="7342632" y="1874520"/>
            <a:ext cx="15544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8" name="Text 26"/>
          <p:cNvSpPr/>
          <p:nvPr/>
        </p:nvSpPr>
        <p:spPr>
          <a:xfrm>
            <a:off x="7342632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🔋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434072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"Baterías Incluidas"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34072" y="3136392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estándar enorme para casi cualquier tarea.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Importancia y Relevancia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88920" cy="365760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8892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Rompió la barrera de entrada para no-ingenieros. Científicos, biólogos y economistas automatizan tareas sin ser expertos en computación.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88920" cy="365760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8892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la 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más importante en IA y Machine Learning. TensorFlow y PyTorch están diseñados para Python — base de ChatGPT y conducción autónoma.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788920" cy="365760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78892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6" name="Text 14"/>
          <p:cNvSpPr/>
          <p:nvPr/>
        </p:nvSpPr>
        <p:spPr>
          <a:xfrm>
            <a:off x="6172200" y="11430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(Time-to-Market)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como Google, NASA y Netflix usan Python por la velocidad en prototipado. Reduce costos y tiempo de desarrollo significativamente.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Listas vs. Tuplas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606040" y="804672"/>
            <a:ext cx="2971800" cy="4114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2606040" y="80467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 [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804672"/>
            <a:ext cx="3154680" cy="41148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5669280" y="8046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Tuplas  ( 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2194560" cy="658368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384048" y="1325880"/>
            <a:ext cx="20665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Mutabilidad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1325880"/>
            <a:ext cx="2971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2697480" y="132588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Mutable: puede cambiar después de su creación.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1325880"/>
            <a:ext cx="3154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Text 11"/>
          <p:cNvSpPr/>
          <p:nvPr/>
        </p:nvSpPr>
        <p:spPr>
          <a:xfrm>
            <a:off x="5760720" y="132588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Inmutable: no se puede modificar una vez creada.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057400"/>
            <a:ext cx="2194560" cy="658368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5" name="Text 13"/>
          <p:cNvSpPr/>
          <p:nvPr/>
        </p:nvSpPr>
        <p:spPr>
          <a:xfrm>
            <a:off x="384048" y="2057400"/>
            <a:ext cx="20665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2057400"/>
            <a:ext cx="2971800" cy="658368"/>
          </a:xfrm>
          <a:prstGeom prst="rect">
            <a:avLst/>
          </a:prstGeom>
          <a:solidFill>
            <a:srgbClr val="F0F0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2697480" y="205740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Dinámica: crece o decrece según sea necesario.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0" y="2057400"/>
            <a:ext cx="3154680" cy="658368"/>
          </a:xfrm>
          <a:prstGeom prst="rect">
            <a:avLst/>
          </a:prstGeom>
          <a:solidFill>
            <a:srgbClr val="F0F0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9" name="Text 17"/>
          <p:cNvSpPr/>
          <p:nvPr/>
        </p:nvSpPr>
        <p:spPr>
          <a:xfrm>
            <a:off x="5760720" y="205740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Fija: constante durante toda la ejecución.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194560" cy="658368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Text 19"/>
          <p:cNvSpPr/>
          <p:nvPr/>
        </p:nvSpPr>
        <p:spPr>
          <a:xfrm>
            <a:off x="384048" y="2788920"/>
            <a:ext cx="20665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06040" y="2788920"/>
            <a:ext cx="2971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3" name="Text 21"/>
          <p:cNvSpPr/>
          <p:nvPr/>
        </p:nvSpPr>
        <p:spPr>
          <a:xfrm>
            <a:off x="2697480" y="278892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append(), extend(), insert(), pop(), remove()…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2788920"/>
            <a:ext cx="3154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Text 23"/>
          <p:cNvSpPr/>
          <p:nvPr/>
        </p:nvSpPr>
        <p:spPr>
          <a:xfrm>
            <a:off x="5760720" y="27889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consulta: count(), index().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520440"/>
            <a:ext cx="2194560" cy="658368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7" name="Text 25"/>
          <p:cNvSpPr/>
          <p:nvPr/>
        </p:nvSpPr>
        <p:spPr>
          <a:xfrm>
            <a:off x="384048" y="3520440"/>
            <a:ext cx="20665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606040" y="3520440"/>
            <a:ext cx="2971800" cy="658368"/>
          </a:xfrm>
          <a:prstGeom prst="rect">
            <a:avLst/>
          </a:prstGeom>
          <a:solidFill>
            <a:srgbClr val="F0F0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Text 27"/>
          <p:cNvSpPr/>
          <p:nvPr/>
        </p:nvSpPr>
        <p:spPr>
          <a:xfrm>
            <a:off x="2697480" y="352044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homogéneos (misma naturaleza).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0" y="3520440"/>
            <a:ext cx="3154680" cy="658368"/>
          </a:xfrm>
          <a:prstGeom prst="rect">
            <a:avLst/>
          </a:prstGeom>
          <a:solidFill>
            <a:srgbClr val="F0F0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1" name="Text 29"/>
          <p:cNvSpPr/>
          <p:nvPr/>
        </p:nvSpPr>
        <p:spPr>
          <a:xfrm>
            <a:off x="5760720" y="352044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heterogéneos o registros fijos.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251960"/>
            <a:ext cx="2194560" cy="658368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Text 31"/>
          <p:cNvSpPr/>
          <p:nvPr/>
        </p:nvSpPr>
        <p:spPr>
          <a:xfrm>
            <a:off x="384048" y="4251960"/>
            <a:ext cx="20665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606040" y="4251960"/>
            <a:ext cx="2971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5" name="Text 33"/>
          <p:cNvSpPr/>
          <p:nvPr/>
        </p:nvSpPr>
        <p:spPr>
          <a:xfrm>
            <a:off x="2697480" y="425196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memoria por su naturaleza dinámica.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0" y="4251960"/>
            <a:ext cx="3154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Text 35"/>
          <p:cNvSpPr/>
          <p:nvPr/>
        </p:nvSpPr>
        <p:spPr>
          <a:xfrm>
            <a:off x="5760720" y="425196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ligera y rápida en memoria.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Diccionarios vs. Conjuntos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393192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 { clave: valor 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un mapa/arreglo asociativo. Usa función hash para convertir clave inmutable en dirección de memoria donde se guarda el valor.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datos de APIs web (JSON)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o tablas de frecuencia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base del lenguaje Python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0" y="36576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Hash (pares clave-valor)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9044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45920" y="39044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clave única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15137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Duplicados: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151376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únicas; valores repetibles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39826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Orden: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4398264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orden de inserción (Python 3.7+)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868680"/>
            <a:ext cx="4160520" cy="393192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9" name="Shape 17"/>
          <p:cNvSpPr/>
          <p:nvPr/>
        </p:nvSpPr>
        <p:spPr>
          <a:xfrm>
            <a:off x="4846320" y="868680"/>
            <a:ext cx="416052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0" name="Text 18"/>
          <p:cNvSpPr/>
          <p:nvPr/>
        </p:nvSpPr>
        <p:spPr>
          <a:xfrm>
            <a:off x="4983480" y="9601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 { elemento 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4630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mutable de elementos inmutables y únicos. Basada en teoría matemática de conjuntos. Operación de pertenencia O(1) — casi instantánea.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25146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78892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eficiente de duplicados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algebraicas (unión, intersección)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membresía ultrarrápida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36576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Hash (solo claves/valores)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83480" y="39044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39044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índice ni clave directa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83480" y="415137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Duplicados: 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4151376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permite duplicados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83480" y="439826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Orden: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4398264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Desordenado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Métodos para Manipulación de Listas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889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6" name="Text 4"/>
          <p:cNvSpPr/>
          <p:nvPr/>
        </p:nvSpPr>
        <p:spPr>
          <a:xfrm>
            <a:off x="429768" y="822960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Adición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" y="1417320"/>
            <a:ext cx="256946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append(x)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x al final de la lista.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" y="2011680"/>
            <a:ext cx="256946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insert(i, x)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x en la posición 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606040"/>
            <a:ext cx="256946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extend(lista2)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 otra lista al final.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82296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246120" y="822960"/>
            <a:ext cx="278892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3355848" y="822960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  Eliminación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55848" y="1417320"/>
            <a:ext cx="256946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0" name="Text 18"/>
          <p:cNvSpPr/>
          <p:nvPr/>
        </p:nvSpPr>
        <p:spPr>
          <a:xfrm>
            <a:off x="3429000" y="144475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pop(i)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9000" y="16459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y retorna el elemento en posición 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55848" y="2011680"/>
            <a:ext cx="256946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3" name="Text 21"/>
          <p:cNvSpPr/>
          <p:nvPr/>
        </p:nvSpPr>
        <p:spPr>
          <a:xfrm>
            <a:off x="3429000" y="203911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remove(x)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22402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la primera aparición del valor x.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55848" y="2606040"/>
            <a:ext cx="256946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3429000" y="263347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29000" y="283464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 la lista por completo.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82296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6172200" y="822960"/>
            <a:ext cx="27889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6281928" y="822960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Organización y Análisis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81928" y="1417320"/>
            <a:ext cx="256946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2" name="Text 30"/>
          <p:cNvSpPr/>
          <p:nvPr/>
        </p:nvSpPr>
        <p:spPr>
          <a:xfrm>
            <a:off x="6355080" y="144475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16459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elementos de forma ascendente.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81928" y="2011680"/>
            <a:ext cx="256946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5" name="Text 33"/>
          <p:cNvSpPr/>
          <p:nvPr/>
        </p:nvSpPr>
        <p:spPr>
          <a:xfrm>
            <a:off x="6355080" y="203911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55080" y="22402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Invierte el orden actual.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81928" y="2606040"/>
            <a:ext cx="256946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6355080" y="263347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index(x)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55080" y="283464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la posición del valor x.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81928" y="3200400"/>
            <a:ext cx="256946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1" name="Text 39"/>
          <p:cNvSpPr/>
          <p:nvPr/>
        </p:nvSpPr>
        <p:spPr>
          <a:xfrm>
            <a:off x="6355080" y="322783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count(x)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55080" y="34290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cuántas veces aparece x.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1928" y="3794760"/>
            <a:ext cx="256946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4" name="Text 42"/>
          <p:cNvSpPr/>
          <p:nvPr/>
        </p:nvSpPr>
        <p:spPr>
          <a:xfrm>
            <a:off x="6355080" y="382219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copy()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55080" y="402336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copia independiente de la lista.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960120"/>
            <a:ext cx="7818120" cy="77724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7543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nació de la necesidad de un lenguaje legible y accesible. Su origen humilde como proyecto personal se convirtió en el fundamento de la programación moderna.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502920" cy="7772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1965960"/>
            <a:ext cx="7818120" cy="77724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1097280" y="1965960"/>
            <a:ext cx="7543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filosofía de "código abierto" y "baterías incluidas" lo hizo accesible a todo tipo de profesionales, democratizando la programación más allá de la ingeniería.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502920" cy="7772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Text 11"/>
          <p:cNvSpPr/>
          <p:nvPr/>
        </p:nvSpPr>
        <p:spPr>
          <a:xfrm>
            <a:off x="365760" y="2971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120" y="2971800"/>
            <a:ext cx="7818120" cy="77724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5" name="Text 13"/>
          <p:cNvSpPr/>
          <p:nvPr/>
        </p:nvSpPr>
        <p:spPr>
          <a:xfrm>
            <a:off x="1097280" y="2971800"/>
            <a:ext cx="7543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estructuras de datos nativas (listas, tuplas, diccionarios, conjuntos) ofrecen herramientas precisas para cada problema, equilibrando flexibilidad y eficiencia.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502920" cy="7772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365760" y="39776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" y="3977640"/>
            <a:ext cx="7818120" cy="777240"/>
          </a:xfrm>
          <a:prstGeom prst="rect">
            <a:avLst/>
          </a:prstGeom>
          <a:solidFill>
            <a:srgbClr val="1E2E9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7543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Python lidera el campo de la Inteligencia Artificial y el Machine Learning, siendo la base de tecnologías como TensorFlow, PyTorch y ChatGPT.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de Panamá  ·  Facultad de Ingeniería de Sistemas Computacionales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906</Words>
  <Application>Microsoft Office PowerPoint</Application>
  <PresentationFormat>Presentación en pantalla (16:9)</PresentationFormat>
  <Paragraphs>144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y Fundamentos de Python</dc:title>
  <dc:subject>PptxGenJS Presentation</dc:subject>
  <dc:creator>PptxGenJS</dc:creator>
  <cp:lastModifiedBy>ADRIAN JIMENEZ</cp:lastModifiedBy>
  <cp:revision>2</cp:revision>
  <dcterms:created xsi:type="dcterms:W3CDTF">2026-03-27T16:14:34Z</dcterms:created>
  <dcterms:modified xsi:type="dcterms:W3CDTF">2026-03-27T16:28:55Z</dcterms:modified>
</cp:coreProperties>
</file>